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a1ec7f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1093440"/>
            <a:ext cx="952500" cy="952500"/>
          </a:xfrm>
          <a:prstGeom prst="rect">
            <a:avLst/>
          </a:prstGeom>
          <a:effectLst>
            <a:outerShdw sx="100000" sy="100000" kx="0" ky="0" algn="bl" rotWithShape="0" blurRad="381000" dist="114300" dir="5400000">
              <a:srgbClr val="10b981">
                <a:alpha val="4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268848" y="1236315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2801503" y="2198340"/>
            <a:ext cx="35408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BaggPlanning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2296449" y="2884140"/>
            <a:ext cx="45509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intelligente des plannings en pharmacie</a:t>
            </a:r>
            <a:endParaRPr lang="en-US" sz="1650" dirty="0"/>
          </a:p>
        </p:txBody>
      </p:sp>
      <p:pic>
        <p:nvPicPr>
          <p:cNvPr id="6" name="Image 1" descr="/tmp/rasterized-gradient-3b0c1d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406080"/>
            <a:ext cx="1143000" cy="3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67058" y="3825180"/>
            <a:ext cx="12098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Anas - Janvier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fda99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572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PROBLEME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81000" y="693390"/>
            <a:ext cx="71408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gestion des plannings est un casse-tete</a:t>
            </a:r>
            <a:endParaRPr lang="en-US" sz="2700" dirty="0"/>
          </a:p>
        </p:txBody>
      </p:sp>
      <p:pic>
        <p:nvPicPr>
          <p:cNvPr id="5" name="Image 1" descr="/tmp/rasterized-gradient-026bc6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08931"/>
            <a:ext cx="2667000" cy="11523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99431"/>
            <a:ext cx="229285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609600" y="1997571"/>
            <a:ext cx="22928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personnes a gerer</a:t>
            </a:r>
            <a:endParaRPr lang="en-US" sz="975" dirty="0"/>
          </a:p>
        </p:txBody>
      </p:sp>
      <p:pic>
        <p:nvPicPr>
          <p:cNvPr id="8" name="Image 2" descr="/tmp/rasterized-gradient-9fee12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13707"/>
            <a:ext cx="2667000" cy="11523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600" y="2704207"/>
            <a:ext cx="229285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150" dirty="0"/>
          </a:p>
        </p:txBody>
      </p:sp>
      <p:sp>
        <p:nvSpPr>
          <p:cNvPr id="10" name="Text 5"/>
          <p:cNvSpPr/>
          <p:nvPr/>
        </p:nvSpPr>
        <p:spPr>
          <a:xfrm>
            <a:off x="609600" y="3302347"/>
            <a:ext cx="22928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etudiants aux horaires variables</a:t>
            </a:r>
            <a:endParaRPr lang="en-US" sz="975" dirty="0"/>
          </a:p>
        </p:txBody>
      </p:sp>
      <p:pic>
        <p:nvPicPr>
          <p:cNvPr id="11" name="Image 3" descr="/tmp/rasterized-gradient-c51f07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8483"/>
            <a:ext cx="2667000" cy="11523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600" y="4008983"/>
            <a:ext cx="229285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6h+</a:t>
            </a:r>
            <a:endParaRPr lang="en-US" sz="3150" dirty="0"/>
          </a:p>
        </p:txBody>
      </p:sp>
      <p:sp>
        <p:nvSpPr>
          <p:cNvPr id="13" name="Text 7"/>
          <p:cNvSpPr/>
          <p:nvPr/>
        </p:nvSpPr>
        <p:spPr>
          <a:xfrm>
            <a:off x="609600" y="4607123"/>
            <a:ext cx="22928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semaine de planification</a:t>
            </a:r>
            <a:endParaRPr lang="en-US" sz="975" dirty="0"/>
          </a:p>
        </p:txBody>
      </p:sp>
      <p:sp>
        <p:nvSpPr>
          <p:cNvPr id="14" name="Text 8"/>
          <p:cNvSpPr/>
          <p:nvPr/>
        </p:nvSpPr>
        <p:spPr>
          <a:xfrm>
            <a:off x="3352800" y="206707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3454301" y="2112764"/>
            <a:ext cx="1036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790950" y="2067074"/>
            <a:ext cx="25553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manuelle des disponibilites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3790950" y="2305199"/>
            <a:ext cx="25553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SMS, appels, messages WhatsApp disperses</a:t>
            </a:r>
            <a:endParaRPr lang="en-US" sz="975" dirty="0"/>
          </a:p>
        </p:txBody>
      </p:sp>
      <p:sp>
        <p:nvSpPr>
          <p:cNvPr id="18" name="Text 12"/>
          <p:cNvSpPr/>
          <p:nvPr/>
        </p:nvSpPr>
        <p:spPr>
          <a:xfrm>
            <a:off x="3352800" y="261178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3454301" y="2657475"/>
            <a:ext cx="1036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790950" y="2611785"/>
            <a:ext cx="2415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vue d ensemble</a:t>
            </a: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3790950" y="2849910"/>
            <a:ext cx="2415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de voir qui est disponible quand</a:t>
            </a:r>
            <a:endParaRPr lang="en-US" sz="975" dirty="0"/>
          </a:p>
        </p:txBody>
      </p:sp>
      <p:sp>
        <p:nvSpPr>
          <p:cNvPr id="22" name="Text 16"/>
          <p:cNvSpPr/>
          <p:nvPr/>
        </p:nvSpPr>
        <p:spPr>
          <a:xfrm>
            <a:off x="3352800" y="3156496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454301" y="3202186"/>
            <a:ext cx="1036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790950" y="3156496"/>
            <a:ext cx="24534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imprevus chaotique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3790950" y="3394621"/>
            <a:ext cx="24534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Arrets maladie, absences = stress immediat</a:t>
            </a:r>
            <a:endParaRPr lang="en-US" sz="975" dirty="0"/>
          </a:p>
        </p:txBody>
      </p:sp>
      <p:sp>
        <p:nvSpPr>
          <p:cNvPr id="26" name="Text 20"/>
          <p:cNvSpPr/>
          <p:nvPr/>
        </p:nvSpPr>
        <p:spPr>
          <a:xfrm>
            <a:off x="3352800" y="3701207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3454301" y="3746897"/>
            <a:ext cx="1036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790950" y="3701207"/>
            <a:ext cx="2309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 legales complexes</a:t>
            </a:r>
            <a:endParaRPr lang="en-US" sz="1125" dirty="0"/>
          </a:p>
        </p:txBody>
      </p:sp>
      <p:sp>
        <p:nvSpPr>
          <p:cNvPr id="29" name="Text 23"/>
          <p:cNvSpPr/>
          <p:nvPr/>
        </p:nvSpPr>
        <p:spPr>
          <a:xfrm>
            <a:off x="3790950" y="3939332"/>
            <a:ext cx="23097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2 pharmaciens, 1 preparateur requis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1b27a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572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81000" y="693390"/>
            <a:ext cx="64025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Une application web simple et efficace</a:t>
            </a:r>
            <a:endParaRPr lang="en-US" sz="2700" dirty="0"/>
          </a:p>
        </p:txBody>
      </p:sp>
      <p:pic>
        <p:nvPicPr>
          <p:cNvPr id="5" name="Image 1" descr="/tmp/rasterized-gradient-118708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6488"/>
            <a:ext cx="2641550" cy="2366814"/>
          </a:xfrm>
          <a:prstGeom prst="rect">
            <a:avLst/>
          </a:prstGeom>
        </p:spPr>
      </p:pic>
      <p:pic>
        <p:nvPicPr>
          <p:cNvPr id="6" name="Image 2" descr="/tmp/rasterized-gradient-501804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5088"/>
            <a:ext cx="533400" cy="533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2035" y="2215158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609600" y="2782788"/>
            <a:ext cx="222803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Saisie des disponibilites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09600" y="3102769"/>
            <a:ext cx="222803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etudiants remplissent leurs disponibilites en ligne avant le dimanche 20h</a:t>
            </a:r>
            <a:endParaRPr lang="en-US" sz="975" dirty="0"/>
          </a:p>
        </p:txBody>
      </p:sp>
      <p:sp>
        <p:nvSpPr>
          <p:cNvPr id="10" name="Shape 5"/>
          <p:cNvSpPr/>
          <p:nvPr/>
        </p:nvSpPr>
        <p:spPr>
          <a:xfrm>
            <a:off x="609600" y="3779044"/>
            <a:ext cx="2184350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09600" y="3898106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mobile-friendly</a:t>
            </a:r>
            <a:endParaRPr lang="en-US" sz="825" dirty="0"/>
          </a:p>
        </p:txBody>
      </p:sp>
      <p:pic>
        <p:nvPicPr>
          <p:cNvPr id="12" name="Image 3" descr="/tmp/rasterized-gradient-b64775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150" y="1999357"/>
            <a:ext cx="2641550" cy="2181076"/>
          </a:xfrm>
          <a:prstGeom prst="rect">
            <a:avLst/>
          </a:prstGeom>
        </p:spPr>
      </p:pic>
      <p:pic>
        <p:nvPicPr>
          <p:cNvPr id="13" name="Image 4" descr="/tmp/rasterized-gradient-5872e0f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750" y="2227957"/>
            <a:ext cx="533400" cy="533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672185" y="2308027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3479750" y="2875657"/>
            <a:ext cx="222803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Matrice de disponibilites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3479750" y="3195638"/>
            <a:ext cx="22280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 ensemble de toute l equipe sur la semaine en un coup d oeil</a:t>
            </a:r>
            <a:endParaRPr lang="en-US" sz="975" dirty="0"/>
          </a:p>
        </p:txBody>
      </p:sp>
      <p:sp>
        <p:nvSpPr>
          <p:cNvPr id="17" name="Shape 10"/>
          <p:cNvSpPr/>
          <p:nvPr/>
        </p:nvSpPr>
        <p:spPr>
          <a:xfrm>
            <a:off x="3479750" y="3686175"/>
            <a:ext cx="2184350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479750" y="3805237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par role et jour</a:t>
            </a:r>
            <a:endParaRPr lang="en-US" sz="825" dirty="0"/>
          </a:p>
        </p:txBody>
      </p:sp>
      <p:pic>
        <p:nvPicPr>
          <p:cNvPr id="19" name="Image 5" descr="/tmp/rasterized-gradient-87b033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301" y="1906488"/>
            <a:ext cx="2641550" cy="2366814"/>
          </a:xfrm>
          <a:prstGeom prst="rect">
            <a:avLst/>
          </a:prstGeom>
        </p:spPr>
      </p:pic>
      <p:pic>
        <p:nvPicPr>
          <p:cNvPr id="20" name="Image 6" descr="/tmp/rasterized-gradient-d7369f9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9901" y="2135088"/>
            <a:ext cx="533400" cy="5334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42336" y="2215158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13"/>
          <p:cNvSpPr/>
          <p:nvPr/>
        </p:nvSpPr>
        <p:spPr>
          <a:xfrm>
            <a:off x="6349901" y="2782788"/>
            <a:ext cx="222803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Creation du planning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6349901" y="3102769"/>
            <a:ext cx="222803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Glisser-deposer des employes sur les creneaux avec validation des contraintes</a:t>
            </a:r>
            <a:endParaRPr lang="en-US" sz="975" dirty="0"/>
          </a:p>
        </p:txBody>
      </p:sp>
      <p:sp>
        <p:nvSpPr>
          <p:cNvPr id="24" name="Shape 15"/>
          <p:cNvSpPr/>
          <p:nvPr/>
        </p:nvSpPr>
        <p:spPr>
          <a:xfrm>
            <a:off x="6349901" y="3779044"/>
            <a:ext cx="2184350" cy="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6349901" y="3898106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automatiques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6853f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572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EMPLOYE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81000" y="693390"/>
            <a:ext cx="6431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Espace dedie aux etudiants et preparateurs</a:t>
            </a:r>
            <a:endParaRPr lang="en-US" sz="2400" dirty="0"/>
          </a:p>
        </p:txBody>
      </p:sp>
      <p:pic>
        <p:nvPicPr>
          <p:cNvPr id="5" name="Image 1" descr="/tmp/rasterized-gradient-57bd92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27771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1259" y="20096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90600" y="1960215"/>
            <a:ext cx="45079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des disponibilites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90600" y="2192536"/>
            <a:ext cx="45079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intuitive jour par jour avec creneaux horaires</a:t>
            </a:r>
            <a:endParaRPr lang="en-US" sz="900" dirty="0"/>
          </a:p>
        </p:txBody>
      </p:sp>
      <p:pic>
        <p:nvPicPr>
          <p:cNvPr id="9" name="Image 2" descr="/tmp/rasterized-gradient-2d0f40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37371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1259" y="26192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90600" y="2569815"/>
            <a:ext cx="45079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 absence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90600" y="2802136"/>
            <a:ext cx="45079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Conges, echanges, maladies avec suivi du statut</a:t>
            </a:r>
            <a:endParaRPr lang="en-US" sz="900" dirty="0"/>
          </a:p>
        </p:txBody>
      </p:sp>
      <p:pic>
        <p:nvPicPr>
          <p:cNvPr id="13" name="Image 3" descr="/tmp/rasterized-gradient-49f360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146971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1259" y="32288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990600" y="3179415"/>
            <a:ext cx="45079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du planning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90600" y="3411736"/>
            <a:ext cx="45079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ses horaires valides pour la semaine</a:t>
            </a:r>
            <a:endParaRPr lang="en-US" sz="900" dirty="0"/>
          </a:p>
        </p:txBody>
      </p:sp>
      <p:pic>
        <p:nvPicPr>
          <p:cNvPr id="17" name="Image 4" descr="/tmp/rasterized-gradient-cbf5fc8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56571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1259" y="38384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990600" y="3789015"/>
            <a:ext cx="45079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des demandes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90600" y="4021336"/>
            <a:ext cx="45079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demandes passees et leur statut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5715000" y="2123182"/>
            <a:ext cx="3048000" cy="1895326"/>
          </a:xfrm>
          <a:prstGeom prst="roundRect">
            <a:avLst>
              <a:gd name="adj" fmla="val 10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762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5905500" y="2313682"/>
            <a:ext cx="27203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Apercu interface mobile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905500" y="2652713"/>
            <a:ext cx="2667000" cy="1175296"/>
          </a:xfrm>
          <a:prstGeom prst="roundRect">
            <a:avLst>
              <a:gd name="adj" fmla="val 972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6057900" y="2805113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DISPONIBILITES</a:t>
            </a:r>
            <a:endParaRPr lang="en-US" sz="825" dirty="0"/>
          </a:p>
        </p:txBody>
      </p:sp>
      <p:sp>
        <p:nvSpPr>
          <p:cNvPr id="25" name="Text 18"/>
          <p:cNvSpPr/>
          <p:nvPr/>
        </p:nvSpPr>
        <p:spPr>
          <a:xfrm>
            <a:off x="6057900" y="3027908"/>
            <a:ext cx="737146" cy="28575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6172200" y="3104108"/>
            <a:ext cx="518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Lun: 9h-18h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6871246" y="3027908"/>
            <a:ext cx="795189" cy="28575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985546" y="3104108"/>
            <a:ext cx="57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Mar: 14h-20h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7742634" y="3027908"/>
            <a:ext cx="477292" cy="285750"/>
          </a:xfrm>
          <a:prstGeom prst="roundRect">
            <a:avLst>
              <a:gd name="adj" fmla="val 26667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7856934" y="3104108"/>
            <a:ext cx="253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Mer: -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6057900" y="3389858"/>
            <a:ext cx="731788" cy="28575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6172200" y="3466058"/>
            <a:ext cx="51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Jeu: 8h-14h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113d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572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TITULAIRE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81000" y="693390"/>
            <a:ext cx="61693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Tableau de bord complet pour le manager</a:t>
            </a:r>
            <a:endParaRPr lang="en-US" sz="2400" dirty="0"/>
          </a:p>
        </p:txBody>
      </p:sp>
      <p:pic>
        <p:nvPicPr>
          <p:cNvPr id="5" name="Image 1" descr="/tmp/rasterized-gradient-5ca873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27771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1259" y="20096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90600" y="1960215"/>
            <a:ext cx="4313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des disponibilites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90600" y="2192536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complete de toute l equipe sur la semaine</a:t>
            </a:r>
            <a:endParaRPr lang="en-US" sz="900" dirty="0"/>
          </a:p>
        </p:txBody>
      </p:sp>
      <p:pic>
        <p:nvPicPr>
          <p:cNvPr id="9" name="Image 2" descr="/tmp/rasterized-gradient-c4579b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37371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1259" y="26192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90600" y="2569815"/>
            <a:ext cx="4313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demandes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90600" y="2802136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Approuver ou refuser les conges et absences en un clic</a:t>
            </a:r>
            <a:endParaRPr lang="en-US" sz="900" dirty="0"/>
          </a:p>
        </p:txBody>
      </p:sp>
      <p:pic>
        <p:nvPicPr>
          <p:cNvPr id="13" name="Image 3" descr="/tmp/rasterized-gradient-065cd9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146971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1259" y="32288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990600" y="3179415"/>
            <a:ext cx="4313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Editeur de planning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90600" y="3411736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visuelle matin et apres-midi avec validation</a:t>
            </a:r>
            <a:endParaRPr lang="en-US" sz="900" dirty="0"/>
          </a:p>
        </p:txBody>
      </p:sp>
      <p:pic>
        <p:nvPicPr>
          <p:cNvPr id="17" name="Image 4" descr="/tmp/rasterized-gradient-792b90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56571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1259" y="3838426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990600" y="3789015"/>
            <a:ext cx="4313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l equipe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90600" y="4021336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Ajouter, modifier, supprimer des membres</a:t>
            </a:r>
            <a:endParaRPr lang="en-US" sz="900" dirty="0"/>
          </a:p>
        </p:txBody>
      </p:sp>
      <p:pic>
        <p:nvPicPr>
          <p:cNvPr id="21" name="Image 5" descr="/tmp/rasterized-gradient-f8bead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1872704"/>
            <a:ext cx="3238500" cy="239613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715000" y="2063204"/>
            <a:ext cx="29146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Titulaire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5715000" y="2402235"/>
            <a:ext cx="888950" cy="687586"/>
          </a:xfrm>
          <a:prstGeom prst="roundRect">
            <a:avLst>
              <a:gd name="adj" fmla="val 13853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5822696" y="2516535"/>
            <a:ext cx="6735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5822696" y="2855565"/>
            <a:ext cx="6735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Repondu</a:t>
            </a:r>
            <a:endParaRPr lang="en-US" sz="675" dirty="0"/>
          </a:p>
        </p:txBody>
      </p:sp>
      <p:sp>
        <p:nvSpPr>
          <p:cNvPr id="26" name="Text 18"/>
          <p:cNvSpPr/>
          <p:nvPr/>
        </p:nvSpPr>
        <p:spPr>
          <a:xfrm>
            <a:off x="6699200" y="2402235"/>
            <a:ext cx="888950" cy="687586"/>
          </a:xfrm>
          <a:prstGeom prst="roundRect">
            <a:avLst>
              <a:gd name="adj" fmla="val 13853"/>
            </a:avLst>
          </a:prstGeom>
          <a:solidFill>
            <a:srgbClr val="FBBF2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6806897" y="2516535"/>
            <a:ext cx="6735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6806897" y="2855565"/>
            <a:ext cx="6735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Attente</a:t>
            </a:r>
            <a:endParaRPr lang="en-US" sz="675" dirty="0"/>
          </a:p>
        </p:txBody>
      </p:sp>
      <p:sp>
        <p:nvSpPr>
          <p:cNvPr id="29" name="Text 21"/>
          <p:cNvSpPr/>
          <p:nvPr/>
        </p:nvSpPr>
        <p:spPr>
          <a:xfrm>
            <a:off x="7683401" y="2402235"/>
            <a:ext cx="888950" cy="687586"/>
          </a:xfrm>
          <a:prstGeom prst="roundRect">
            <a:avLst>
              <a:gd name="adj" fmla="val 13853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7791097" y="2516535"/>
            <a:ext cx="6735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7791097" y="2855565"/>
            <a:ext cx="6735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</a:t>
            </a:r>
            <a:endParaRPr lang="en-US" sz="675" dirty="0"/>
          </a:p>
        </p:txBody>
      </p:sp>
      <p:sp>
        <p:nvSpPr>
          <p:cNvPr id="32" name="Text 24"/>
          <p:cNvSpPr/>
          <p:nvPr/>
        </p:nvSpPr>
        <p:spPr>
          <a:xfrm>
            <a:off x="5715000" y="3242221"/>
            <a:ext cx="2857500" cy="836116"/>
          </a:xfrm>
          <a:prstGeom prst="roundRect">
            <a:avLst>
              <a:gd name="adj" fmla="val 1139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5829300" y="3356521"/>
            <a:ext cx="2681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LUNDI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5829300" y="3566071"/>
            <a:ext cx="1276350" cy="397966"/>
          </a:xfrm>
          <a:prstGeom prst="roundRect">
            <a:avLst>
              <a:gd name="adj" fmla="val 14361"/>
            </a:avLst>
          </a:prstGeom>
          <a:solidFill>
            <a:srgbClr val="FBBF2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5905500" y="3642271"/>
            <a:ext cx="11464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MATIN</a:t>
            </a:r>
            <a:endParaRPr lang="en-US" sz="675" dirty="0"/>
          </a:p>
        </p:txBody>
      </p:sp>
      <p:sp>
        <p:nvSpPr>
          <p:cNvPr id="36" name="Text 28"/>
          <p:cNvSpPr/>
          <p:nvPr/>
        </p:nvSpPr>
        <p:spPr>
          <a:xfrm>
            <a:off x="5905500" y="3781276"/>
            <a:ext cx="114642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pers.</a:t>
            </a:r>
            <a:endParaRPr lang="en-US" sz="600" dirty="0"/>
          </a:p>
        </p:txBody>
      </p:sp>
      <p:sp>
        <p:nvSpPr>
          <p:cNvPr id="37" name="Text 29"/>
          <p:cNvSpPr/>
          <p:nvPr/>
        </p:nvSpPr>
        <p:spPr>
          <a:xfrm>
            <a:off x="7181850" y="3566071"/>
            <a:ext cx="1276350" cy="397966"/>
          </a:xfrm>
          <a:prstGeom prst="roundRect">
            <a:avLst>
              <a:gd name="adj" fmla="val 14361"/>
            </a:avLst>
          </a:prstGeom>
          <a:solidFill>
            <a:srgbClr val="3B82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7258050" y="3642271"/>
            <a:ext cx="11464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APRES-MIDI</a:t>
            </a:r>
            <a:endParaRPr lang="en-US" sz="675" dirty="0"/>
          </a:p>
        </p:txBody>
      </p:sp>
      <p:sp>
        <p:nvSpPr>
          <p:cNvPr id="39" name="Text 31"/>
          <p:cNvSpPr/>
          <p:nvPr/>
        </p:nvSpPr>
        <p:spPr>
          <a:xfrm>
            <a:off x="7258050" y="3781276"/>
            <a:ext cx="114642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pers.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54099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technique moderne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26790"/>
            <a:ext cx="2641550" cy="3535710"/>
          </a:xfrm>
          <a:prstGeom prst="roundRect">
            <a:avLst>
              <a:gd name="adj" fmla="val 72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46491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1325" y="1609725"/>
            <a:ext cx="1685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9125" y="2188815"/>
            <a:ext cx="2208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14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125" y="2531715"/>
            <a:ext cx="2208606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React avec App Router, Server Components et deploiement optimise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4314825"/>
            <a:ext cx="571798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4352925"/>
            <a:ext cx="388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48073" y="4314825"/>
            <a:ext cx="640556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43323" y="4352925"/>
            <a:ext cx="4590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51150" y="1226790"/>
            <a:ext cx="2641550" cy="3535710"/>
          </a:xfrm>
          <a:prstGeom prst="roundRect">
            <a:avLst>
              <a:gd name="adj" fmla="val 72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tmp/rasterized-gradient-617e11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275" y="1464915"/>
            <a:ext cx="609600" cy="609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705076" y="1583085"/>
            <a:ext cx="18155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489275" y="2188815"/>
            <a:ext cx="2208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89275" y="2531715"/>
            <a:ext cx="220860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Backend-as-a-Service avec PostgreSQL, authentification et API temps reel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89275" y="4314825"/>
            <a:ext cx="709464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84525" y="4352925"/>
            <a:ext cx="529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255889" y="4314825"/>
            <a:ext cx="386507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351139" y="4352925"/>
            <a:ext cx="199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121301" y="1226790"/>
            <a:ext cx="2641550" cy="3535710"/>
          </a:xfrm>
          <a:prstGeom prst="roundRect">
            <a:avLst>
              <a:gd name="adj" fmla="val 72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59426" y="146491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575227" y="1583085"/>
            <a:ext cx="18155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6359426" y="2188815"/>
            <a:ext cx="2208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359426" y="2531715"/>
            <a:ext cx="220860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Deploiement automatique avec Edge Functions et CDN global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359426" y="4314825"/>
            <a:ext cx="412998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454676" y="4352925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29574" y="4314825"/>
            <a:ext cx="449907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924824" y="4352925"/>
            <a:ext cx="264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6c0c7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572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81000" y="69339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benefices concrets</a:t>
            </a:r>
            <a:endParaRPr lang="en-US" sz="2700" dirty="0"/>
          </a:p>
        </p:txBody>
      </p:sp>
      <p:pic>
        <p:nvPicPr>
          <p:cNvPr id="5" name="Image 1" descr="/tmp/rasterized-gradient-335196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41090"/>
            <a:ext cx="4095750" cy="1746349"/>
          </a:xfrm>
          <a:prstGeom prst="rect">
            <a:avLst/>
          </a:prstGeom>
        </p:spPr>
      </p:pic>
      <p:pic>
        <p:nvPicPr>
          <p:cNvPr id="6" name="Image 2" descr="/tmp/rasterized-gradient-4baef9d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69690"/>
            <a:ext cx="49530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4752" y="1683990"/>
            <a:ext cx="453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1219200" y="1577280"/>
            <a:ext cx="7778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219200" y="1897261"/>
            <a:ext cx="7778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planification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09600" y="2217390"/>
            <a:ext cx="37113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6h a moins d 1h par semaine grace a la centralisation des donnees</a:t>
            </a:r>
            <a:endParaRPr lang="en-US" sz="975" dirty="0"/>
          </a:p>
        </p:txBody>
      </p:sp>
      <p:pic>
        <p:nvPicPr>
          <p:cNvPr id="11" name="Image 3" descr="/tmp/rasterized-gradient-2d21d2b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1341090"/>
            <a:ext cx="4095750" cy="1746349"/>
          </a:xfrm>
          <a:prstGeom prst="rect">
            <a:avLst/>
          </a:prstGeom>
        </p:spPr>
      </p:pic>
      <p:pic>
        <p:nvPicPr>
          <p:cNvPr id="12" name="Image 4" descr="/tmp/rasterized-gradient-59a6ea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1569690"/>
            <a:ext cx="495300" cy="495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24127" y="1697385"/>
            <a:ext cx="4473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5505450" y="1577280"/>
            <a:ext cx="73837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505450" y="1897261"/>
            <a:ext cx="7383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accessibilite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4895850" y="2217390"/>
            <a:ext cx="371132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etudiants remplissent leurs dispos depuis leur smartphone</a:t>
            </a:r>
            <a:endParaRPr lang="en-US" sz="975" dirty="0"/>
          </a:p>
        </p:txBody>
      </p:sp>
      <p:pic>
        <p:nvPicPr>
          <p:cNvPr id="17" name="Image 5" descr="/tmp/rasterized-gradient-5eee4ab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277939"/>
            <a:ext cx="4095750" cy="1560761"/>
          </a:xfrm>
          <a:prstGeom prst="rect">
            <a:avLst/>
          </a:prstGeom>
        </p:spPr>
      </p:pic>
      <p:pic>
        <p:nvPicPr>
          <p:cNvPr id="18" name="Image 6" descr="/tmp/rasterized-gradient-3cdea81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506539"/>
            <a:ext cx="495300" cy="4953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04267" y="362083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Text 11"/>
          <p:cNvSpPr/>
          <p:nvPr/>
        </p:nvSpPr>
        <p:spPr>
          <a:xfrm>
            <a:off x="1219200" y="3514130"/>
            <a:ext cx="7254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Oublis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1219200" y="3834110"/>
            <a:ext cx="7254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deadline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609600" y="4154239"/>
            <a:ext cx="371132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Rappels automatiques avant la date limite du dimanche</a:t>
            </a:r>
            <a:endParaRPr lang="en-US" sz="975" dirty="0"/>
          </a:p>
        </p:txBody>
      </p:sp>
      <p:pic>
        <p:nvPicPr>
          <p:cNvPr id="23" name="Image 7" descr="/tmp/rasterized-gradient-bba04ff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0" y="3277939"/>
            <a:ext cx="4095750" cy="1560761"/>
          </a:xfrm>
          <a:prstGeom prst="rect">
            <a:avLst/>
          </a:prstGeom>
        </p:spPr>
      </p:pic>
      <p:pic>
        <p:nvPicPr>
          <p:cNvPr id="24" name="Image 8" descr="/tmp/rasterized-gradient-40c8f5f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5850" y="3506539"/>
            <a:ext cx="495300" cy="495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967139" y="3634234"/>
            <a:ext cx="359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350" dirty="0"/>
          </a:p>
        </p:txBody>
      </p:sp>
      <p:sp>
        <p:nvSpPr>
          <p:cNvPr id="26" name="Text 15"/>
          <p:cNvSpPr/>
          <p:nvPr/>
        </p:nvSpPr>
        <p:spPr>
          <a:xfrm>
            <a:off x="5505450" y="3514130"/>
            <a:ext cx="11013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27" name="Text 16"/>
          <p:cNvSpPr/>
          <p:nvPr/>
        </p:nvSpPr>
        <p:spPr>
          <a:xfrm>
            <a:off x="5505450" y="3834110"/>
            <a:ext cx="11013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contraintes</a:t>
            </a:r>
            <a:endParaRPr lang="en-US" sz="900" dirty="0"/>
          </a:p>
        </p:txBody>
      </p:sp>
      <p:sp>
        <p:nvSpPr>
          <p:cNvPr id="28" name="Text 17"/>
          <p:cNvSpPr/>
          <p:nvPr/>
        </p:nvSpPr>
        <p:spPr>
          <a:xfrm>
            <a:off x="4895850" y="4154239"/>
            <a:ext cx="371132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si moins de 2 pharmaciens ou 1 preparateur par creneau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f8d28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572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81000" y="6933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du projet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81000" y="1341090"/>
            <a:ext cx="1981200" cy="349761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sx="100000" sy="100000" kx="0" ky="0" algn="bl" rotWithShape="0" blurRad="114300" dist="381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0550" y="1550640"/>
            <a:ext cx="619125" cy="209550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5800" y="1588740"/>
            <a:ext cx="437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0550" y="1874490"/>
            <a:ext cx="159334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0550" y="2171551"/>
            <a:ext cx="159334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des interfaces - Prototypes HTML/CSS - Architecture technique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514600" y="1341090"/>
            <a:ext cx="1981200" cy="349761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sx="100000" sy="100000" kx="0" ky="0" algn="bl" rotWithShape="0" blurRad="114300" dist="381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724150" y="1550640"/>
            <a:ext cx="619125" cy="209550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819400" y="1588740"/>
            <a:ext cx="437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724150" y="1874490"/>
            <a:ext cx="159334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24150" y="2171551"/>
            <a:ext cx="15933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Supabase - Schema base de donnees - Authentification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48200" y="1341090"/>
            <a:ext cx="1981200" cy="349761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>
            <a:outerShdw sx="100000" sy="100000" kx="0" ky="0" algn="bl" rotWithShape="0" blurRad="114300" dist="38100" dir="5400000">
              <a:srgbClr val="3b82f6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57750" y="1550640"/>
            <a:ext cx="693390" cy="209550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53000" y="1588740"/>
            <a:ext cx="512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857750" y="1874490"/>
            <a:ext cx="159334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57750" y="2171551"/>
            <a:ext cx="15933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backend - Tests fonctionnels - Corrections bugs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781800" y="1341090"/>
            <a:ext cx="1981200" cy="349761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114300" dist="381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991350" y="1550640"/>
            <a:ext cx="573435" cy="209550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086600" y="1588740"/>
            <a:ext cx="3905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VENIR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991350" y="1874490"/>
            <a:ext cx="159334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91350" y="2171551"/>
            <a:ext cx="159334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Deploiement Vercel - Notifications email - Formation equipe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c1075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669578"/>
            <a:ext cx="857250" cy="857250"/>
          </a:xfrm>
          <a:prstGeom prst="rect">
            <a:avLst/>
          </a:prstGeom>
          <a:effectLst>
            <a:outerShdw sx="100000" sy="100000" kx="0" ky="0" algn="bl" rotWithShape="0" blurRad="381000" dist="114300" dir="5400000">
              <a:srgbClr val="10b981">
                <a:alpha val="4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305279" y="804863"/>
            <a:ext cx="5334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820415" y="1717328"/>
            <a:ext cx="1503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081278" y="2365028"/>
            <a:ext cx="2981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sur BaggPlanning ?</a:t>
            </a:r>
            <a:endParaRPr lang="en-US" sz="1500" dirty="0"/>
          </a:p>
        </p:txBody>
      </p:sp>
      <p:pic>
        <p:nvPicPr>
          <p:cNvPr id="6" name="Image 1" descr="/tmp/rasterized-gradient-5613ef8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2898428"/>
            <a:ext cx="952500" cy="285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0502" y="3346103"/>
            <a:ext cx="704106" cy="434280"/>
          </a:xfrm>
          <a:prstGeom prst="roundRect">
            <a:avLst>
              <a:gd name="adj" fmla="val 263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787487" y="3469928"/>
            <a:ext cx="3101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523208" y="3346103"/>
            <a:ext cx="1749177" cy="434280"/>
          </a:xfrm>
          <a:prstGeom prst="roundRect">
            <a:avLst>
              <a:gd name="adj" fmla="val 263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709742" y="3469928"/>
            <a:ext cx="13761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Etudiant en Pharmacie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500985" y="3346103"/>
            <a:ext cx="1052364" cy="434280"/>
          </a:xfrm>
          <a:prstGeom prst="roundRect">
            <a:avLst>
              <a:gd name="adj" fmla="val 263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694487" y="3469928"/>
            <a:ext cx="665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Strasbourg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003554" y="4275683"/>
            <a:ext cx="3136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Janvier 2025 - Projet de gestion des plannings en pharmacie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Pharmacie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BaggPlanning - Présentation</dc:title>
  <dc:subject>Gestion intelligente des plannings en pharmacie</dc:subject>
  <dc:creator>Anas</dc:creator>
  <cp:lastModifiedBy>Anas</cp:lastModifiedBy>
  <cp:revision>1</cp:revision>
  <dcterms:created xsi:type="dcterms:W3CDTF">2026-01-16T20:13:37Z</dcterms:created>
  <dcterms:modified xsi:type="dcterms:W3CDTF">2026-01-16T20:13:37Z</dcterms:modified>
</cp:coreProperties>
</file>